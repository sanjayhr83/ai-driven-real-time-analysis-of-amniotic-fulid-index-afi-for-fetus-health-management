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4" r:id="rId6"/>
    <p:sldId id="260" r:id="rId7"/>
    <p:sldId id="261" r:id="rId8"/>
    <p:sldId id="262" r:id="rId9"/>
    <p:sldId id="263" r:id="rId10"/>
    <p:sldId id="267" r:id="rId11"/>
    <p:sldId id="275" r:id="rId12"/>
    <p:sldId id="270" r:id="rId13"/>
    <p:sldId id="276" r:id="rId14"/>
    <p:sldId id="271" r:id="rId15"/>
    <p:sldId id="277" r:id="rId16"/>
    <p:sldId id="272" r:id="rId17"/>
    <p:sldId id="274" r:id="rId18"/>
    <p:sldId id="273" r:id="rId19"/>
    <p:sldId id="269" r:id="rId20"/>
    <p:sldId id="280" r:id="rId21"/>
    <p:sldId id="281" r:id="rId22"/>
    <p:sldId id="282" r:id="rId23"/>
    <p:sldId id="283" r:id="rId24"/>
    <p:sldId id="264" r:id="rId25"/>
    <p:sldId id="279" r:id="rId26"/>
    <p:sldId id="278" r:id="rId27"/>
    <p:sldId id="266" r:id="rId28"/>
  </p:sldIdLst>
  <p:sldSz cx="14630400" cy="8229600"/>
  <p:notesSz cx="8229600" cy="14630400"/>
  <p:embeddedFontLst>
    <p:embeddedFont>
      <p:font typeface="Inter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33" autoAdjust="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13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B5FCF-25DF-921D-8B63-205CED20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5F99F-E736-06C8-5D59-BD73D6E95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14316-C0E5-E655-14DB-EF8DCB994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13417-F533-C90D-22D6-60D1FE1717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13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E0F3-97D8-46DE-43E1-451D56A9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81866-8C35-89B6-4576-80E99BCB3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C237B-9742-8EF8-4ADF-6E17BB5A9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F4119-710C-DF4B-BB21-A692DF83D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26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abs/pii/S1568494621001198?utm_source=chatgpt.com" TargetMode="External"/><Relationship Id="rId3" Type="http://schemas.openxmlformats.org/officeDocument/2006/relationships/hyperlink" Target="https://pubmed.ncbi.nlm.nih.gov/33515982/" TargetMode="External"/><Relationship Id="rId7" Type="http://schemas.openxmlformats.org/officeDocument/2006/relationships/hyperlink" Target="https://pmc.ncbi.nlm.nih.gov/articles/PMC9228529/?utm_source=chatgpt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emanticscholar.org/paper/U-Net-Tuning-Hyperparameter-for-Segmentation-in-Ayu-Pradipta/98c2cb2f117a8e05bf6c65803462576a1f3c0e55?utm_source=chatgpt.com" TargetMode="External"/><Relationship Id="rId5" Type="http://schemas.openxmlformats.org/officeDocument/2006/relationships/hyperlink" Target="https://www.nature.com/articles/s41467-023-42438-5?utm_source=chatgpt.com" TargetMode="External"/><Relationship Id="rId10" Type="http://schemas.openxmlformats.org/officeDocument/2006/relationships/hyperlink" Target="https://www.researchgate.net/publication/389100292_Deep_Learning_Based_Detection_and_Classification_of_Amniotic_Fluid_Echogenicity_Type_for_Enhanced_Prenatal_Diagnosis?utm_source=chatgpt.com" TargetMode="External"/><Relationship Id="rId4" Type="http://schemas.openxmlformats.org/officeDocument/2006/relationships/hyperlink" Target="https://www.mdpi.com/2504-2289/6/4/107?utm_source=chatgpt.com" TargetMode="External"/><Relationship Id="rId9" Type="http://schemas.openxmlformats.org/officeDocument/2006/relationships/hyperlink" Target="https://www.mdpi.com/2306-5354/10/7/783?utm_source=chatgpt.com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59" y="370284"/>
            <a:ext cx="1592104" cy="1671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21002" y="370284"/>
            <a:ext cx="10532626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GOVERNMENT ENGINEERING COLLEGE, CHALLAKERE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18635" y="2191411"/>
            <a:ext cx="13593128" cy="1507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6100"/>
              </a:lnSpc>
            </a:pPr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AI-DRIVEN REAL TIME ANALYSIS OF AMNIOTIC FLUID INDEX(AFI) FOR FETUS HEALTH MANAGEMENT</a:t>
            </a:r>
          </a:p>
          <a:p>
            <a:pPr algn="ctr">
              <a:lnSpc>
                <a:spcPts val="6100"/>
              </a:lnSpc>
            </a:pPr>
            <a:endParaRPr lang="en-US" sz="4000" b="1" dirty="0">
              <a:solidFill>
                <a:srgbClr val="F95F88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8636" y="3876199"/>
            <a:ext cx="1359312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79829" y="4039475"/>
            <a:ext cx="3270739" cy="493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0070C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 THE GUIDENCE OF 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18636" y="4370136"/>
            <a:ext cx="13593128" cy="606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Asst. Prof</a:t>
            </a: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POORNIMA S P</a:t>
            </a:r>
            <a:r>
              <a:rPr lang="en-US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M.Tech, </a:t>
            </a:r>
            <a:r>
              <a:rPr lang="en-US" dirty="0" err="1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Ph.d</a:t>
            </a:r>
            <a:endParaRPr lang="en-US" dirty="0">
              <a:solidFill>
                <a:srgbClr val="272525"/>
              </a:solidFill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Dept of CSE </a:t>
            </a:r>
          </a:p>
          <a:p>
            <a:pPr marL="0" indent="0" algn="ctr">
              <a:lnSpc>
                <a:spcPts val="18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GEC, Challakere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18636" y="5216604"/>
            <a:ext cx="1359312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18636" y="5620464"/>
            <a:ext cx="1359312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35159" y="5143381"/>
            <a:ext cx="871001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                                                                                                                                                       </a:t>
            </a:r>
            <a:r>
              <a:rPr lang="en-US" sz="2000" b="1" dirty="0">
                <a:solidFill>
                  <a:srgbClr val="0070C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PRESENTED BY 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936911" y="5544292"/>
            <a:ext cx="1359312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PAVAN G S            - 4EG22AI029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36911" y="5946494"/>
            <a:ext cx="1359312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SANJAY H R          - 4EG22AI037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36911" y="6356738"/>
            <a:ext cx="1359312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SUNIL T R              - 4EG22AI045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36911" y="6758940"/>
            <a:ext cx="1359312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YASHAVANTHA N  - 4EG22AI051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D3AF91-232B-5AD7-09DA-4D409AAB89F6}"/>
              </a:ext>
            </a:extLst>
          </p:cNvPr>
          <p:cNvSpPr txBox="1"/>
          <p:nvPr/>
        </p:nvSpPr>
        <p:spPr>
          <a:xfrm>
            <a:off x="12589727" y="7198043"/>
            <a:ext cx="1940312" cy="10186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F703FB6-30E5-9D69-3990-BDD46FA3096C}"/>
              </a:ext>
            </a:extLst>
          </p:cNvPr>
          <p:cNvSpPr/>
          <p:nvPr/>
        </p:nvSpPr>
        <p:spPr>
          <a:xfrm>
            <a:off x="12723541" y="7364730"/>
            <a:ext cx="1906859" cy="8648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44FD55-D8A8-A55E-8133-1D030E8E69EF}"/>
              </a:ext>
            </a:extLst>
          </p:cNvPr>
          <p:cNvSpPr txBox="1"/>
          <p:nvPr/>
        </p:nvSpPr>
        <p:spPr>
          <a:xfrm>
            <a:off x="2862925" y="889873"/>
            <a:ext cx="110847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0" dirty="0">
                <a:cs typeface="Calibri"/>
              </a:rPr>
              <a:t>(Affiliated </a:t>
            </a:r>
            <a:r>
              <a:rPr lang="en-US" sz="2000" dirty="0">
                <a:cs typeface="Calibri"/>
              </a:rPr>
              <a:t>to</a:t>
            </a:r>
            <a:r>
              <a:rPr lang="en-US" sz="2000" spc="-10" dirty="0">
                <a:cs typeface="Calibri"/>
              </a:rPr>
              <a:t>  VTU </a:t>
            </a:r>
            <a:r>
              <a:rPr lang="en-US" sz="2000" spc="-25" dirty="0">
                <a:cs typeface="Calibri"/>
              </a:rPr>
              <a:t>Belagavi,</a:t>
            </a:r>
            <a:r>
              <a:rPr lang="en-US" sz="2000" spc="-65" dirty="0">
                <a:cs typeface="Calibri"/>
              </a:rPr>
              <a:t> </a:t>
            </a:r>
            <a:r>
              <a:rPr lang="en-US" sz="2000" spc="-25" dirty="0">
                <a:cs typeface="Calibri"/>
              </a:rPr>
              <a:t>Recognized</a:t>
            </a:r>
            <a:r>
              <a:rPr lang="en-US" sz="2000" spc="-5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by</a:t>
            </a:r>
            <a:r>
              <a:rPr lang="en-US" sz="2000" spc="-10" dirty="0">
                <a:cs typeface="Calibri"/>
              </a:rPr>
              <a:t> AICTE, New</a:t>
            </a:r>
            <a:r>
              <a:rPr lang="en-US" sz="2000" spc="-40" dirty="0">
                <a:cs typeface="Calibri"/>
              </a:rPr>
              <a:t> </a:t>
            </a:r>
            <a:r>
              <a:rPr lang="en-US" sz="2000" spc="-10" dirty="0">
                <a:cs typeface="Calibri"/>
              </a:rPr>
              <a:t>Delhi</a:t>
            </a:r>
            <a:r>
              <a:rPr lang="en-US" sz="2000" spc="-5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and</a:t>
            </a:r>
            <a:r>
              <a:rPr lang="en-US" sz="2000" spc="-25" dirty="0">
                <a:cs typeface="Calibri"/>
              </a:rPr>
              <a:t> </a:t>
            </a:r>
            <a:r>
              <a:rPr lang="en-US" sz="2000" spc="-30" dirty="0">
                <a:cs typeface="Calibri"/>
              </a:rPr>
              <a:t>Approved</a:t>
            </a:r>
            <a:r>
              <a:rPr lang="en-US" sz="2000" spc="15" dirty="0">
                <a:cs typeface="Calibri"/>
              </a:rPr>
              <a:t> </a:t>
            </a:r>
            <a:r>
              <a:rPr lang="en-US" sz="2000" spc="-25" dirty="0">
                <a:cs typeface="Calibri"/>
              </a:rPr>
              <a:t>by Government</a:t>
            </a:r>
            <a:r>
              <a:rPr lang="en-US" sz="2000" spc="1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of</a:t>
            </a:r>
            <a:r>
              <a:rPr lang="en-US" sz="2000" spc="-70" dirty="0">
                <a:cs typeface="Calibri"/>
              </a:rPr>
              <a:t> </a:t>
            </a:r>
            <a:r>
              <a:rPr lang="en-US" sz="2000" spc="-10" dirty="0">
                <a:cs typeface="Calibri"/>
              </a:rPr>
              <a:t>Karnataka)</a:t>
            </a:r>
            <a:endParaRPr lang="en-US" sz="2000" dirty="0">
              <a:cs typeface="Calibri"/>
            </a:endParaRPr>
          </a:p>
          <a:p>
            <a:endParaRPr lang="en-US" sz="2000" dirty="0">
              <a:cs typeface="Calibri"/>
            </a:endParaRP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4417" y="457995"/>
            <a:ext cx="14819233" cy="791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endParaRPr lang="en-US" sz="2800" b="1" dirty="0">
              <a:solidFill>
                <a:srgbClr val="F95F88"/>
              </a:solidFill>
              <a:latin typeface="Petrona Bold" pitchFamily="34" charset="0"/>
              <a:ea typeface="Petrona Bold" pitchFamily="34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7016472" y="3057763"/>
            <a:ext cx="237803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7016472" y="3583781"/>
            <a:ext cx="2378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1458575" y="3057763"/>
            <a:ext cx="237803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2450" dirty="0"/>
          </a:p>
        </p:txBody>
      </p:sp>
      <p:sp>
        <p:nvSpPr>
          <p:cNvPr id="14" name="Text 8"/>
          <p:cNvSpPr/>
          <p:nvPr/>
        </p:nvSpPr>
        <p:spPr>
          <a:xfrm>
            <a:off x="2566750" y="5153144"/>
            <a:ext cx="2378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7315200" y="4726900"/>
            <a:ext cx="2378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11458575" y="5289233"/>
            <a:ext cx="2378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2D7A84-8CC5-FDCE-784C-48DCB50970B8}"/>
              </a:ext>
            </a:extLst>
          </p:cNvPr>
          <p:cNvSpPr txBox="1"/>
          <p:nvPr/>
        </p:nvSpPr>
        <p:spPr>
          <a:xfrm>
            <a:off x="411727" y="389925"/>
            <a:ext cx="10952432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CONTENTS </a:t>
            </a:r>
          </a:p>
          <a:p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Challenges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Patients Dashboard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Doctors  Dashboard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Requriments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B58E67-C3D2-8539-F896-40EC70138990}"/>
              </a:ext>
            </a:extLst>
          </p:cNvPr>
          <p:cNvSpPr/>
          <p:nvPr/>
        </p:nvSpPr>
        <p:spPr>
          <a:xfrm>
            <a:off x="12485077" y="7376453"/>
            <a:ext cx="2016369" cy="85314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3479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ABSTRACT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236255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The Amniotic Fluid Index (AFI) helps measure the amount of fluid around the baby to check fetal wellbeing and detect any pregnancy risks.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46939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Oligohydramnios means low amniotic fluid, Which can limit the baby's movement and cause issues like  growth restriction or stress.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06146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Polyhydramnios measure too much amniotic fluid, which may cause discomfort, early labor, complications like cord prolapse, needing proper care and management.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538413"/>
            <a:ext cx="6244709" cy="427255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6B96C61-D829-7325-2357-AD290644C4EF}"/>
              </a:ext>
            </a:extLst>
          </p:cNvPr>
          <p:cNvSpPr/>
          <p:nvPr/>
        </p:nvSpPr>
        <p:spPr>
          <a:xfrm>
            <a:off x="12723541" y="7364730"/>
            <a:ext cx="1906859" cy="8648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2456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</a:t>
            </a:r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6165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ABBAB5-E049-9C9A-A6F2-F43C13CD0BD6}"/>
              </a:ext>
            </a:extLst>
          </p:cNvPr>
          <p:cNvSpPr/>
          <p:nvPr/>
        </p:nvSpPr>
        <p:spPr>
          <a:xfrm>
            <a:off x="12723541" y="7364730"/>
            <a:ext cx="1906859" cy="8648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13900DF-8618-9771-5B36-F3E3CB01D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DE8FA6-A5CB-510B-0961-6A25A7973179}"/>
              </a:ext>
            </a:extLst>
          </p:cNvPr>
          <p:cNvSpPr txBox="1"/>
          <p:nvPr/>
        </p:nvSpPr>
        <p:spPr>
          <a:xfrm>
            <a:off x="903249" y="1170878"/>
            <a:ext cx="807348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AFI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Amniotic fluid is the protective liquid that surrounds the baby (fetus) inside the mother’s womb during pregnancy.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present inside the amniotic sac and starts forming soon after conception.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mainly composed of water, electrolytes, nutrients, hormones, proteins, and later fetal urine.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levels (too low/high) indicate potential complications like fetal growth restriction, preterm birth.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with Current Method: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ultrasound measurement.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Operator-dependent and variable.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real-time or continuous.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Inaccessible in areas with few skilled sonographers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A62A-AD39-55C2-6407-AF0BADCA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638F62-1488-E036-A1A9-C2C9082BFC2C}"/>
              </a:ext>
            </a:extLst>
          </p:cNvPr>
          <p:cNvSpPr/>
          <p:nvPr/>
        </p:nvSpPr>
        <p:spPr>
          <a:xfrm>
            <a:off x="793790" y="302456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8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PROBLEM STATEMENT</a:t>
            </a:r>
            <a:endParaRPr lang="en-US" sz="4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2E5C1C-6F5E-DE35-83DC-E49DAB912EC5}"/>
              </a:ext>
            </a:extLst>
          </p:cNvPr>
          <p:cNvSpPr/>
          <p:nvPr/>
        </p:nvSpPr>
        <p:spPr>
          <a:xfrm>
            <a:off x="793790" y="26165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6F1FA3-CFE9-35EF-835E-71D9F5F5D2F3}"/>
              </a:ext>
            </a:extLst>
          </p:cNvPr>
          <p:cNvSpPr/>
          <p:nvPr/>
        </p:nvSpPr>
        <p:spPr>
          <a:xfrm>
            <a:off x="12723541" y="7364730"/>
            <a:ext cx="1906859" cy="8648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109E6B0-D4FB-045C-A5D5-E1E3751EA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DF7296-BFEA-2C9E-1845-997483F7E249}"/>
              </a:ext>
            </a:extLst>
          </p:cNvPr>
          <p:cNvSpPr txBox="1"/>
          <p:nvPr/>
        </p:nvSpPr>
        <p:spPr>
          <a:xfrm>
            <a:off x="375137" y="1221543"/>
            <a:ext cx="8370277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AFI assessment using ultrasound is manual, time-consuming, and prone to inter-observer variability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inconsistent diagnosis of oligohydramnios or polyhydramnios.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real-time, automated monitoring of amniotic fluid levels limits early detection of fetal distress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delaying timely clinical intervention.		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AI-powered system that can automatically segment amniotic fluid pockets and compute AFI accurately and continuously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clinicians in making faster and more reliable pregnancy-related decisions.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 AI-powered, web-based system for automated, accurate, and real-time AFI classification.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28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59381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4900" dirty="0"/>
          </a:p>
        </p:txBody>
      </p:sp>
      <p:sp>
        <p:nvSpPr>
          <p:cNvPr id="4" name="Shape 1"/>
          <p:cNvSpPr/>
          <p:nvPr/>
        </p:nvSpPr>
        <p:spPr>
          <a:xfrm>
            <a:off x="793790" y="187916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1834" y="1900416"/>
            <a:ext cx="374213" cy="46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1530906" y="1957030"/>
            <a:ext cx="368617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Automate Fluid Detection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530906" y="248304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U-Net deep learning to segment amniotic fluid regions.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29957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1834" y="3320832"/>
            <a:ext cx="374213" cy="46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1530906" y="3377446"/>
            <a:ext cx="350841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Calculate AFI Accurately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1530906" y="390346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pocket depths and sum for total AFI in centimeters.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71999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834" y="4741247"/>
            <a:ext cx="374213" cy="46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1530906" y="4797862"/>
            <a:ext cx="3907869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Classify Clinical Categories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1530906" y="532388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 oligohydramnios, normal, or polyhydramnios levels.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614041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1834" y="6161663"/>
            <a:ext cx="374213" cy="46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1530906" y="6218277"/>
            <a:ext cx="4256127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Enable Real-Time Web Access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1530906" y="674429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User-friendly platform for immediate image upload and feedback.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08751" y="522803"/>
            <a:ext cx="3842861" cy="137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159102" y="1503462"/>
            <a:ext cx="7742158" cy="1200507"/>
          </a:xfrm>
          <a:prstGeom prst="roundRect">
            <a:avLst>
              <a:gd name="adj" fmla="val 70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0" y="1771752"/>
            <a:ext cx="4824532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Manual AFI Measurement Limitations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828958" y="2139434"/>
            <a:ext cx="7326392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Time-consuming and subjective, varies by sonographer skill.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187321" y="2889807"/>
            <a:ext cx="7742158" cy="1200507"/>
          </a:xfrm>
          <a:prstGeom prst="roundRect">
            <a:avLst>
              <a:gd name="adj" fmla="val 70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85450" y="3154744"/>
            <a:ext cx="36349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Human Error and Variability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906247" y="3546638"/>
            <a:ext cx="7326392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Prone to inconsistent results and misdiagnosis risk.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87321" y="4278543"/>
            <a:ext cx="7742158" cy="1200507"/>
          </a:xfrm>
          <a:prstGeom prst="roundRect">
            <a:avLst>
              <a:gd name="adj" fmla="val 70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350567" y="4498034"/>
            <a:ext cx="2753797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Accessibility Issues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723451" y="4878796"/>
            <a:ext cx="7326392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Low-resource settings often lack skilled personnel for AFI assessment.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59102" y="5674670"/>
            <a:ext cx="7742158" cy="1200507"/>
          </a:xfrm>
          <a:prstGeom prst="roundRect">
            <a:avLst>
              <a:gd name="adj" fmla="val 70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50567" y="5897925"/>
            <a:ext cx="2753797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Need for Automation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828958" y="6280940"/>
            <a:ext cx="7326392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system aims to standardize, speed, and enhance prenatal diagnostics.</a:t>
            </a:r>
            <a:endParaRPr lang="en-US" sz="155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EE59B-206A-40F8-6416-25FE88AC42EC}"/>
              </a:ext>
            </a:extLst>
          </p:cNvPr>
          <p:cNvSpPr/>
          <p:nvPr/>
        </p:nvSpPr>
        <p:spPr>
          <a:xfrm>
            <a:off x="12723541" y="7654766"/>
            <a:ext cx="1906859" cy="8648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653" y="610314"/>
            <a:ext cx="7144583" cy="64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SUMMARY OF LITERATURE REVIEW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53653" y="1625798"/>
            <a:ext cx="13323094" cy="5993368"/>
          </a:xfrm>
          <a:prstGeom prst="roundRect">
            <a:avLst>
              <a:gd name="adj" fmla="val 130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74226" y="1268932"/>
            <a:ext cx="13307854" cy="63502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8320" y="1753076"/>
            <a:ext cx="95357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 NO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182892" y="1753076"/>
            <a:ext cx="261318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177076" y="1753076"/>
            <a:ext cx="111609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74168" y="1753076"/>
            <a:ext cx="144208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97253" y="1753076"/>
            <a:ext cx="528518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273" y="2171581"/>
            <a:ext cx="13307854" cy="83700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8320" y="2291239"/>
            <a:ext cx="95357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182892" y="2291239"/>
            <a:ext cx="2613184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Ultrasound Assessment of AFI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77076" y="2291239"/>
            <a:ext cx="111609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74168" y="2291239"/>
            <a:ext cx="144208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 Chao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97253" y="2291239"/>
            <a:ext cx="5285184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study introduces a deep-learning-based method for automatic AFI evaluation from ultrasound images.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273" y="3008590"/>
            <a:ext cx="13307854" cy="17335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8320" y="3128248"/>
            <a:ext cx="95357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182892" y="3128248"/>
            <a:ext cx="2613184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Learning-Based Classification of AF Levels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177076" y="3128248"/>
            <a:ext cx="111609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74168" y="3128248"/>
            <a:ext cx="144208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Almalki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96896" y="3038356"/>
            <a:ext cx="5285184" cy="149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Utilizing transfer learning models like Xception and MobileNet, this paper classifies AF levels as normal or abnormal using ultrasound images. The MobileNet model achieved an accuracy of 94%, highlighting the potential of AI in aiding sonographers.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273" y="4742140"/>
            <a:ext cx="13307854" cy="14347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8320" y="4861798"/>
            <a:ext cx="95357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182892" y="4861798"/>
            <a:ext cx="2613184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Automation of Fetal Biometry and AF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177076" y="4861798"/>
            <a:ext cx="111609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74168" y="4861798"/>
            <a:ext cx="144208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Horgan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97253" y="4861798"/>
            <a:ext cx="5285184" cy="1195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study developed and prospectively assessed deep learning models for automated fetal biometry and amniotic fluid volume measurements, demonstrating human-level performance in various fetal ultrasound tasks.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61273" y="6176843"/>
            <a:ext cx="13307854" cy="14347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8320" y="6296501"/>
            <a:ext cx="95357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182892" y="6296501"/>
            <a:ext cx="2613184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U-Net Hyperparameter Tuning for AF Segmentation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177076" y="6296501"/>
            <a:ext cx="111609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674168" y="6296501"/>
            <a:ext cx="144208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 Pradipta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97253" y="6296501"/>
            <a:ext cx="5285184" cy="1195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paper analyzes the impact of hyperparameter tuning on the performance of the U-Net model for segmenting amniotic fluid in ultrasound images, aiming to optimize segmentation accuracy.</a:t>
            </a:r>
            <a:endParaRPr lang="en-US" sz="14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32A6E44-69E6-5F28-63B5-E131B4307C73}"/>
              </a:ext>
            </a:extLst>
          </p:cNvPr>
          <p:cNvSpPr/>
          <p:nvPr/>
        </p:nvSpPr>
        <p:spPr>
          <a:xfrm>
            <a:off x="12723541" y="7364730"/>
            <a:ext cx="1906859" cy="8648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9126"/>
            <a:ext cx="13042821" cy="6971348"/>
          </a:xfrm>
          <a:prstGeom prst="roundRect">
            <a:avLst>
              <a:gd name="adj" fmla="val 136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1410" y="636746"/>
            <a:ext cx="13027581" cy="21019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581" y="780455"/>
            <a:ext cx="9390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2428875" y="780455"/>
            <a:ext cx="24464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Challenges in AF Classification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6619" y="780455"/>
            <a:ext cx="8414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39282" y="780455"/>
            <a:ext cx="14954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Nida Aslam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95955" y="780455"/>
            <a:ext cx="50062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review discusses the challenges and advancements in AI-based techniques for amniotic fluid classification, emphasizing the need for standardized datasets and evaluation metrics.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2738676"/>
            <a:ext cx="13027581" cy="17390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8581" y="2882384"/>
            <a:ext cx="9390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2428875" y="2882384"/>
            <a:ext cx="24464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Pixel-Based AF Segmentation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336619" y="2882384"/>
            <a:ext cx="8414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639282" y="2882384"/>
            <a:ext cx="14954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Sri Hartati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595955" y="2882384"/>
            <a:ext cx="50062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study proposes a pixel classification model based on window sampling for amniotic fluid segmentation in B-mode ultrasonography images, enhancing segmentation precision.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477703"/>
            <a:ext cx="130275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8581" y="4621411"/>
            <a:ext cx="9390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428875" y="4621411"/>
            <a:ext cx="24464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AFNet for Automatic AF Segmentation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36619" y="4621411"/>
            <a:ext cx="8414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639282" y="4621411"/>
            <a:ext cx="14954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Alejo Costanzo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595955" y="4621411"/>
            <a:ext cx="50062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paper introduces AFNet, a novel convolutional neural network model for segmenting amniotic fluid 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853827"/>
            <a:ext cx="13027581" cy="17390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28581" y="5997535"/>
            <a:ext cx="9390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2428875" y="5997535"/>
            <a:ext cx="24464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Based Model for AF Segmentation in 2D Image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5336619" y="5997535"/>
            <a:ext cx="8414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6639282" y="5997535"/>
            <a:ext cx="14954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Putu Desian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8595955" y="5997535"/>
            <a:ext cx="50062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study applies a CNN-based semantic segmentation approach to detect and classify amniotic fluid echogenicity types.</a:t>
            </a:r>
            <a:endParaRPr lang="en-US" sz="17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AC8AB57-51F1-CD24-61B7-E91EB2BC8675}"/>
              </a:ext>
            </a:extLst>
          </p:cNvPr>
          <p:cNvSpPr/>
          <p:nvPr/>
        </p:nvSpPr>
        <p:spPr>
          <a:xfrm>
            <a:off x="12648746" y="7423666"/>
            <a:ext cx="1906859" cy="8648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EA0894-C1AC-808E-EA6D-1A5B61B4212B}"/>
              </a:ext>
            </a:extLst>
          </p:cNvPr>
          <p:cNvSpPr txBox="1"/>
          <p:nvPr/>
        </p:nvSpPr>
        <p:spPr>
          <a:xfrm>
            <a:off x="78060" y="105265"/>
            <a:ext cx="7092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SYSTEM ARCHITECTURE</a:t>
            </a:r>
            <a:endParaRPr lang="en-US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E8EE81-0B8C-8D1C-5EFE-B18F604C5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707"/>
            <a:ext cx="14630400" cy="750289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7F434F-BC00-37DB-5D04-0DFDC54B3559}"/>
              </a:ext>
            </a:extLst>
          </p:cNvPr>
          <p:cNvSpPr/>
          <p:nvPr/>
        </p:nvSpPr>
        <p:spPr>
          <a:xfrm>
            <a:off x="12545125" y="6904906"/>
            <a:ext cx="208527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4CA855-8AE8-7E25-DE7B-095EEBF41EB8}"/>
              </a:ext>
            </a:extLst>
          </p:cNvPr>
          <p:cNvSpPr/>
          <p:nvPr/>
        </p:nvSpPr>
        <p:spPr>
          <a:xfrm>
            <a:off x="12500517" y="7270595"/>
            <a:ext cx="2129883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BFE580-ED69-FDE7-733E-6451248ED9F9}"/>
              </a:ext>
            </a:extLst>
          </p:cNvPr>
          <p:cNvSpPr txBox="1"/>
          <p:nvPr/>
        </p:nvSpPr>
        <p:spPr>
          <a:xfrm>
            <a:off x="0" y="100361"/>
            <a:ext cx="14530039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Clients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upload ultrasound images and view analysis results.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review images and generate medical reports through a dashboard.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Load Balancer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Distributes incoming requests across backend services.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performance and high availability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API Gateway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entry point for all client requests.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routing, security, rate-limiting, and authentication.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API Backend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API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OAuth2/JWT for secure user access.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API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images and triggers analysis in AI/ML pipeline.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API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processed results and report downloads.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AI/ML Pipeline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Denoising, enhancement, image cleaning.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Identifies fluid pockets and features.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AFI Calculation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Computes the Amniotic Fluid Index and generates results.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analyzed results to backend.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Storage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Storage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Stores raw and processed ultrasound images.</a:t>
            </a:r>
          </a:p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Stores metadata, AFI measurements, user sessions, and reports.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Data Flow Summary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uploaded → Sent to backend → Processed by AI → Results stored → Users view/ download results.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222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8480-3361-3FE8-4225-C3908043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D57F40-EBB5-1E35-0C6B-1B37733BFE8D}"/>
              </a:ext>
            </a:extLst>
          </p:cNvPr>
          <p:cNvSpPr txBox="1"/>
          <p:nvPr/>
        </p:nvSpPr>
        <p:spPr>
          <a:xfrm>
            <a:off x="78060" y="105265"/>
            <a:ext cx="51407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PATIENTS DASHBOARD</a:t>
            </a:r>
            <a:endParaRPr lang="en-US" sz="4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D062A2-BC43-3D26-E9BA-B8AE34817FEA}"/>
              </a:ext>
            </a:extLst>
          </p:cNvPr>
          <p:cNvSpPr/>
          <p:nvPr/>
        </p:nvSpPr>
        <p:spPr>
          <a:xfrm>
            <a:off x="12545124" y="6841948"/>
            <a:ext cx="2085275" cy="132929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0A6D5-BB66-3494-21D5-A85838897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8" y="723003"/>
            <a:ext cx="14396224" cy="740133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D1347D-FCCA-2936-CC64-E7412533E2BE}"/>
              </a:ext>
            </a:extLst>
          </p:cNvPr>
          <p:cNvSpPr/>
          <p:nvPr/>
        </p:nvSpPr>
        <p:spPr>
          <a:xfrm>
            <a:off x="6356195" y="6869151"/>
            <a:ext cx="1126273" cy="637446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4DBE16-4F2F-A8A5-3C66-98523C5B8563}"/>
              </a:ext>
            </a:extLst>
          </p:cNvPr>
          <p:cNvSpPr/>
          <p:nvPr/>
        </p:nvSpPr>
        <p:spPr>
          <a:xfrm>
            <a:off x="12545125" y="6904906"/>
            <a:ext cx="208527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76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840F-DBEE-400B-91E3-5B2D48F2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03CB2C-001E-B5CB-91DF-6A9CE2872D0E}"/>
              </a:ext>
            </a:extLst>
          </p:cNvPr>
          <p:cNvSpPr/>
          <p:nvPr/>
        </p:nvSpPr>
        <p:spPr>
          <a:xfrm>
            <a:off x="12545124" y="6841948"/>
            <a:ext cx="2085275" cy="1329297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005BECD-4D09-F819-6DF8-7F4CA0FA453D}"/>
              </a:ext>
            </a:extLst>
          </p:cNvPr>
          <p:cNvSpPr/>
          <p:nvPr/>
        </p:nvSpPr>
        <p:spPr>
          <a:xfrm>
            <a:off x="12545125" y="6904906"/>
            <a:ext cx="208527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4E5B2-FAFB-6A05-85BE-DDB7B961DBE8}"/>
              </a:ext>
            </a:extLst>
          </p:cNvPr>
          <p:cNvSpPr txBox="1"/>
          <p:nvPr/>
        </p:nvSpPr>
        <p:spPr>
          <a:xfrm>
            <a:off x="228600" y="0"/>
            <a:ext cx="14173199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Authentication Process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into the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is validated through authentication checks.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authentication fails → user is shown an Authentication Error.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successful → user proceeds to dashboard.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Image Upload Process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an ultrasound image for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checks for upload issues.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upload fails → Upload Error is displayed.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upload succeeds → image proceeds to system analysis.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System Analysis Process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image is processed by the backend/AI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checks if analysis is successful.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analysis fails → Analysis Error is shown.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Viewing &amp; Using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analysis is successful: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view results.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request consultation with a doctor.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manage other images (upload/view/delete).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Session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any point, user can log out from the session.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 ensures session closure and data protection.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9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2389-C3FA-CC09-0569-FA2975C3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4D01DE-4F74-4FD8-3A74-38BB8E40B357}"/>
              </a:ext>
            </a:extLst>
          </p:cNvPr>
          <p:cNvSpPr txBox="1"/>
          <p:nvPr/>
        </p:nvSpPr>
        <p:spPr>
          <a:xfrm>
            <a:off x="78060" y="105265"/>
            <a:ext cx="51407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DOCTORS DASHBOARD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EFB62E-E7BA-5E15-B7CF-390A8EDFB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342"/>
            <a:ext cx="14552340" cy="750525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D87563-4FA9-92B3-5400-B9F7B2B6B8D9}"/>
              </a:ext>
            </a:extLst>
          </p:cNvPr>
          <p:cNvSpPr/>
          <p:nvPr/>
        </p:nvSpPr>
        <p:spPr>
          <a:xfrm>
            <a:off x="6066263" y="7348654"/>
            <a:ext cx="1115122" cy="55756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5383959-67F0-B16A-5044-E01FF585D0ED}"/>
              </a:ext>
            </a:extLst>
          </p:cNvPr>
          <p:cNvSpPr/>
          <p:nvPr/>
        </p:nvSpPr>
        <p:spPr>
          <a:xfrm>
            <a:off x="12545125" y="7147931"/>
            <a:ext cx="208527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1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F723-EEA6-B6BE-FA10-31B100B8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C945BC1-2CB0-AF22-519D-FBDF01301754}"/>
              </a:ext>
            </a:extLst>
          </p:cNvPr>
          <p:cNvSpPr/>
          <p:nvPr/>
        </p:nvSpPr>
        <p:spPr>
          <a:xfrm>
            <a:off x="12545125" y="7147931"/>
            <a:ext cx="208527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DC481-D5CD-1577-E4DB-F247D2AE2D9D}"/>
              </a:ext>
            </a:extLst>
          </p:cNvPr>
          <p:cNvSpPr txBox="1"/>
          <p:nvPr/>
        </p:nvSpPr>
        <p:spPr>
          <a:xfrm>
            <a:off x="306372" y="214168"/>
            <a:ext cx="14017655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Session Start &amp; Authentication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starts a new session.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verifies login credentials.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authentication, doctor is taken to the main dashboard.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Accessing Patient Cases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views the list of patient cases.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a specific case to review.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also log out anytime from the dashboard.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Reviewing Case Details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reviews the ultrasound image.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Accesses patient history and previous reports for context.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AI Measurement Evaluation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views AI-generated AFI measurements.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or manually adjusts AFI values if needed.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Report Preparation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clinical notes and comments.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Finalizes the AFI report.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 a notification or follow-up if necessary.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Return &amp; Logout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returns to the dashboard after completing the case.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log out to end the session securely.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206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E409-7CEB-A12F-D572-B3238604B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C56EDF-E25C-BF78-0533-BD3EB46826EC}"/>
              </a:ext>
            </a:extLst>
          </p:cNvPr>
          <p:cNvSpPr/>
          <p:nvPr/>
        </p:nvSpPr>
        <p:spPr>
          <a:xfrm>
            <a:off x="12578576" y="7270595"/>
            <a:ext cx="196261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AB99F-E224-8D8B-46AB-7861BC95B527}"/>
              </a:ext>
            </a:extLst>
          </p:cNvPr>
          <p:cNvSpPr txBox="1"/>
          <p:nvPr/>
        </p:nvSpPr>
        <p:spPr>
          <a:xfrm>
            <a:off x="289932" y="156117"/>
            <a:ext cx="8452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SOFTWARE</a:t>
            </a:r>
            <a:r>
              <a:rPr lang="en-US" sz="3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 </a:t>
            </a:r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REQUIREMENT</a:t>
            </a:r>
            <a:endParaRPr 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8BB7B-FEAF-6186-D390-7D9EF89309A1}"/>
              </a:ext>
            </a:extLst>
          </p:cNvPr>
          <p:cNvSpPr txBox="1"/>
          <p:nvPr/>
        </p:nvSpPr>
        <p:spPr>
          <a:xfrm>
            <a:off x="184425" y="678771"/>
            <a:ext cx="14050536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Frontend Requirements: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JavaScript (ES6+)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Material-UI (MUI) for responsive design and icons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Client: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Axios for REST API communication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Charts, progress bars, and confidence meters for AFI insights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CSS3 with gradient themes and glass morphism effects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Testing Library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Backend Requirements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 3.10+)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ASGI Server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(async MongoDB driver)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Python-Jose for JWT Authentication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Passlib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password hashing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Python-Multipart for file uploads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TensorFlow/Keras for deep learning inference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Pydantic for used to create request and response to model(email)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is used for preprocessing, normalization, basic ML utilities and train-test split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097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CD7A-EAB6-1D82-6898-42F5EAAF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5DC87D-42D3-9E1B-CE98-5B0589BC4CE1}"/>
              </a:ext>
            </a:extLst>
          </p:cNvPr>
          <p:cNvSpPr/>
          <p:nvPr/>
        </p:nvSpPr>
        <p:spPr>
          <a:xfrm>
            <a:off x="12578576" y="7270595"/>
            <a:ext cx="196261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9DE96-8B4C-E93A-6375-DA00B8A12699}"/>
              </a:ext>
            </a:extLst>
          </p:cNvPr>
          <p:cNvSpPr txBox="1"/>
          <p:nvPr/>
        </p:nvSpPr>
        <p:spPr>
          <a:xfrm>
            <a:off x="256479" y="535258"/>
            <a:ext cx="1428471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3.Database Requirements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(Atlas / Local Instance)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(async)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(for login, roles)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(for AFI results)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Appointments (for scheduling)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and SSL: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certifi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added for secure TLS communication.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Machine Learning Stack: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TensorFlow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Ultrasound image dataset organized into class folders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Low, Normal, High AFI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Rectified Linear Unit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probabilities with confidence score</a:t>
            </a:r>
          </a:p>
          <a:p>
            <a:pPr lvl="0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Type: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CNN-based classification model (trained offline and deployed in backend)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619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689F-BE8C-3482-92A5-39931D0F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02FFB9-703C-8D22-AC59-0D2685FE63D9}"/>
              </a:ext>
            </a:extLst>
          </p:cNvPr>
          <p:cNvSpPr txBox="1"/>
          <p:nvPr/>
        </p:nvSpPr>
        <p:spPr>
          <a:xfrm>
            <a:off x="624468" y="339441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OTHER REQUIREMENTS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651A4-0F06-C0EB-CB47-455A9C9E5BFC}"/>
              </a:ext>
            </a:extLst>
          </p:cNvPr>
          <p:cNvSpPr txBox="1"/>
          <p:nvPr/>
        </p:nvSpPr>
        <p:spPr>
          <a:xfrm>
            <a:off x="379141" y="1171687"/>
            <a:ext cx="10593659" cy="6717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 (JWT Auth).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(Patient/Doctor Dashboards).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Upload &amp; AI-Based AFI Prediction.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&amp; Appointment Booking.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Record Management.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Response time &lt; 3 seconds.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JWT tokens, hashed passwords (HIPAA-compliant principles).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Usability: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Responsive, WCAG-compliant UI (Material-UI).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Stateless backend for horizontal scaling.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99% uptime target, automatic </a:t>
            </a:r>
            <a:r>
              <a:rPr lang="en-US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retries.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B1E419-A2C2-353F-B8AE-D01574690C8E}"/>
              </a:ext>
            </a:extLst>
          </p:cNvPr>
          <p:cNvSpPr/>
          <p:nvPr/>
        </p:nvSpPr>
        <p:spPr>
          <a:xfrm>
            <a:off x="12667785" y="7188533"/>
            <a:ext cx="196261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68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54A46B-9B2C-AE4C-453A-2EB65DDA664C}"/>
              </a:ext>
            </a:extLst>
          </p:cNvPr>
          <p:cNvSpPr txBox="1"/>
          <p:nvPr/>
        </p:nvSpPr>
        <p:spPr>
          <a:xfrm>
            <a:off x="345687" y="289075"/>
            <a:ext cx="4953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METHODOLOGY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B5ED2-E470-55B5-2004-798D0AE745BC}"/>
              </a:ext>
            </a:extLst>
          </p:cNvPr>
          <p:cNvSpPr txBox="1"/>
          <p:nvPr/>
        </p:nvSpPr>
        <p:spPr>
          <a:xfrm>
            <a:off x="345688" y="1125914"/>
            <a:ext cx="1380521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Hybrid Agile + Prototyping.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Workflow: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Studied medical standards and defined core features.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Planning: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Designed U-Net  architecture system and API endpoints.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 and trained a CNN model on labeled ultrasound data.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Implemented FastAPI server with auth and MongoDB integration.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 responsive React dashboards for patients and doctors.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&amp; Testing: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Connected all layers and performed unit/integration tests.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Layers: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 (React)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Logic (FastAPI)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Engine (TensorFlow)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 (MongoDB)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480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4442D4-5563-209B-A909-B43E7DD73148}"/>
              </a:ext>
            </a:extLst>
          </p:cNvPr>
          <p:cNvSpPr txBox="1"/>
          <p:nvPr/>
        </p:nvSpPr>
        <p:spPr>
          <a:xfrm>
            <a:off x="5814647" y="199292"/>
            <a:ext cx="2450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RESULTS</a:t>
            </a:r>
            <a:endParaRPr lang="en-US" sz="4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2B1045-B503-109D-75A6-78807603C51C}"/>
              </a:ext>
            </a:extLst>
          </p:cNvPr>
          <p:cNvSpPr/>
          <p:nvPr/>
        </p:nvSpPr>
        <p:spPr>
          <a:xfrm>
            <a:off x="12667785" y="7188533"/>
            <a:ext cx="196261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5456F-EB7C-6693-9D19-32480D828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032" y="1113691"/>
            <a:ext cx="7162798" cy="6389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51BF26-7E1B-3C07-FABB-531CF8254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70" y="1113690"/>
            <a:ext cx="6904892" cy="638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32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FBD0-E862-3473-8E8F-808F0BAB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88479C-1958-F514-90DC-CB5434B98C41}"/>
              </a:ext>
            </a:extLst>
          </p:cNvPr>
          <p:cNvSpPr/>
          <p:nvPr/>
        </p:nvSpPr>
        <p:spPr>
          <a:xfrm>
            <a:off x="12667785" y="7188533"/>
            <a:ext cx="196261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FE2A6B-7B08-BD3B-5D3D-33ADCEC52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33846" cy="35755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11D779-5C3C-E5B2-B479-F4E073679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46" y="1"/>
            <a:ext cx="7596554" cy="3575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1B95D8-90C7-FF82-4259-326712C24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5538"/>
            <a:ext cx="7033846" cy="46540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BF5107-AC2D-4541-4FF1-F955432B9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846" y="3575537"/>
            <a:ext cx="7596554" cy="465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547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5DA2F-7D4E-B7B1-E4CD-CA42DA84E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95AEDF-1F0D-7F09-DAA4-011DC9CA53FC}"/>
              </a:ext>
            </a:extLst>
          </p:cNvPr>
          <p:cNvSpPr/>
          <p:nvPr/>
        </p:nvSpPr>
        <p:spPr>
          <a:xfrm>
            <a:off x="12667785" y="7188533"/>
            <a:ext cx="196261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3028C6-9BD8-B588-776F-EFB7A2F48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032739"/>
            <a:ext cx="7315200" cy="41968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FAA225-04DE-B277-4A3C-64F24B44A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32738"/>
            <a:ext cx="7315200" cy="41968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EE03A3-19E3-C8C3-2434-3C19AD887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7315200" cy="40327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AA23684-1CF1-5C27-FC98-23C415FED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-3"/>
            <a:ext cx="7315200" cy="403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9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7A48-9192-0A9F-6175-8EBAAF068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F0C9D3-A193-E20C-EF1C-834F25D2F99A}"/>
              </a:ext>
            </a:extLst>
          </p:cNvPr>
          <p:cNvSpPr/>
          <p:nvPr/>
        </p:nvSpPr>
        <p:spPr>
          <a:xfrm>
            <a:off x="12667785" y="7188533"/>
            <a:ext cx="196261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F971A-251F-457C-3725-29CB995E3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6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10991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CONCLUSION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793790" y="333077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AI-based system proves real-time automated AFI measurement is feasible and effective.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31172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Integration enhances clinical workflow, reduces errors, and supports prompt fetal health interventions.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29268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Offers scalable deployment potential for low-resource and remote healthcare settings.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E28FA-A76E-13B9-5400-22D6F16D7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59D8D1-7C82-119C-5177-31B47F52E3D5}"/>
              </a:ext>
            </a:extLst>
          </p:cNvPr>
          <p:cNvSpPr/>
          <p:nvPr/>
        </p:nvSpPr>
        <p:spPr>
          <a:xfrm>
            <a:off x="12578576" y="7270595"/>
            <a:ext cx="1962615" cy="95900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78A587-08A0-507E-8C80-3A3D744E725D}"/>
              </a:ext>
            </a:extLst>
          </p:cNvPr>
          <p:cNvSpPr txBox="1"/>
          <p:nvPr/>
        </p:nvSpPr>
        <p:spPr>
          <a:xfrm>
            <a:off x="289931" y="414025"/>
            <a:ext cx="7388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</a:rPr>
              <a:t>FUTURE SCOPE</a:t>
            </a:r>
            <a:endParaRPr 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F99C6-B8E7-4504-3192-1E1395083FF2}"/>
              </a:ext>
            </a:extLst>
          </p:cNvPr>
          <p:cNvSpPr txBox="1"/>
          <p:nvPr/>
        </p:nvSpPr>
        <p:spPr>
          <a:xfrm>
            <a:off x="289932" y="1360200"/>
            <a:ext cx="1405053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AFI Measurement using segmentation models.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Doppler ultrasound feature integration for better diagnosis.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CTG analysis added for comprehensive fetal monitoring.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Doctor–patient communication module for consultations.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Optimized lightweight models for mobile and offline use.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Hospital Information Systems (HIS).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Multi-language support for wider accessibility.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Explainable AI using Grad-CAM visualizations.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patient monitoring dashboard.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deployment on AWS/Azure/GCP for scalability.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25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6F3D-3EF4-7171-C6F7-D75ACE0D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D6A6DB-F500-B7A5-377A-296DB364BE36}"/>
              </a:ext>
            </a:extLst>
          </p:cNvPr>
          <p:cNvSpPr/>
          <p:nvPr/>
        </p:nvSpPr>
        <p:spPr>
          <a:xfrm>
            <a:off x="442097" y="960871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REFERENCES</a:t>
            </a:r>
            <a:endParaRPr lang="en-US" sz="4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16487E-5FC0-AB1E-35E1-53078230971A}"/>
              </a:ext>
            </a:extLst>
          </p:cNvPr>
          <p:cNvSpPr/>
          <p:nvPr/>
        </p:nvSpPr>
        <p:spPr>
          <a:xfrm>
            <a:off x="793790" y="2457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Automated ultrasound assessment of amniotic fluid index using deep learning - PubMed</a:t>
            </a:r>
            <a:endParaRPr lang="en-US" sz="1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46CA4C-5985-5A9B-EDB6-11A9373070B9}"/>
              </a:ext>
            </a:extLst>
          </p:cNvPr>
          <p:cNvSpPr/>
          <p:nvPr/>
        </p:nvSpPr>
        <p:spPr>
          <a:xfrm>
            <a:off x="793790" y="29001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Learning-Based Computer-Aided Classification of Amniotic Fluid Using Ultrasound Images from Saudi Arabia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72BB92-4278-20D9-D52D-FFE36CA9F8E4}"/>
              </a:ext>
            </a:extLst>
          </p:cNvPr>
          <p:cNvSpPr/>
          <p:nvPr/>
        </p:nvSpPr>
        <p:spPr>
          <a:xfrm>
            <a:off x="793790" y="33423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Fetal biometry and amniotic fluid volume assessment end-to-end automation using Deep Learning | Nature Communications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E533D0-CDC0-9780-3F20-57F984B3C511}"/>
              </a:ext>
            </a:extLst>
          </p:cNvPr>
          <p:cNvSpPr/>
          <p:nvPr/>
        </p:nvSpPr>
        <p:spPr>
          <a:xfrm>
            <a:off x="793790" y="41474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U-Net Tuning Hyperparameter for Segmentation in Amniotic Fluid Ultrasonography Image | Semantic Scholar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5D95429-E016-72D6-DDB8-43A0795B06CF}"/>
              </a:ext>
            </a:extLst>
          </p:cNvPr>
          <p:cNvSpPr/>
          <p:nvPr/>
        </p:nvSpPr>
        <p:spPr>
          <a:xfrm>
            <a:off x="793790" y="45896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Amniotic Fluid Classification and Artificial Intelligence: Challenges and Opportunities - PMC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CAE2285-8ADA-4B02-437D-2DA33D81E726}"/>
              </a:ext>
            </a:extLst>
          </p:cNvPr>
          <p:cNvSpPr/>
          <p:nvPr/>
        </p:nvSpPr>
        <p:spPr>
          <a:xfrm>
            <a:off x="793790" y="503181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Amniotic fluid segmentation based on pixel classification using local window information and distance angle pixel - ScienceDirect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7FC245D-8904-B032-90E8-852B24AC4C3E}"/>
              </a:ext>
            </a:extLst>
          </p:cNvPr>
          <p:cNvSpPr/>
          <p:nvPr/>
        </p:nvSpPr>
        <p:spPr>
          <a:xfrm>
            <a:off x="793790" y="58369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AFNet Algorithm for Automatic Amniotic Fluid Segmentation from Fetal MRI</a:t>
            </a:r>
            <a:endParaRPr lang="en-US" sz="17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41164A-FB33-358D-D60E-363C9152455D}"/>
              </a:ext>
            </a:extLst>
          </p:cNvPr>
          <p:cNvSpPr/>
          <p:nvPr/>
        </p:nvSpPr>
        <p:spPr>
          <a:xfrm>
            <a:off x="793790" y="62791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5E98F1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(PDF) Deep Learning Based Detection and Classification of Amniotic Fluid Echogenicity Type for Enhanced Prenatal Diagnosis</a:t>
            </a:r>
            <a:endParaRPr lang="en-US" sz="17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4E1E9F-5F06-57F8-9328-6351349AD86C}"/>
              </a:ext>
            </a:extLst>
          </p:cNvPr>
          <p:cNvSpPr/>
          <p:nvPr/>
        </p:nvSpPr>
        <p:spPr>
          <a:xfrm>
            <a:off x="12723541" y="7364730"/>
            <a:ext cx="1906859" cy="8648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2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509AFE4D-C3C2-DBA4-43C9-25B2587FA97C}"/>
              </a:ext>
            </a:extLst>
          </p:cNvPr>
          <p:cNvSpPr/>
          <p:nvPr/>
        </p:nvSpPr>
        <p:spPr>
          <a:xfrm>
            <a:off x="12723541" y="7364730"/>
            <a:ext cx="1906859" cy="8648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F0B5B-D129-9E62-36B4-9E66994ED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85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1995</Words>
  <Application>Microsoft Office PowerPoint</Application>
  <PresentationFormat>Custom</PresentationFormat>
  <Paragraphs>297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Calibri</vt:lpstr>
      <vt:lpstr>Wingdings</vt:lpstr>
      <vt:lpstr>Inter</vt:lpstr>
      <vt:lpstr>Arial</vt:lpstr>
      <vt:lpstr>Courier New</vt:lpstr>
      <vt:lpstr>Times New Roman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Sanjay H R</cp:lastModifiedBy>
  <cp:revision>41</cp:revision>
  <dcterms:created xsi:type="dcterms:W3CDTF">2025-05-22T13:30:07Z</dcterms:created>
  <dcterms:modified xsi:type="dcterms:W3CDTF">2025-11-26T13:34:04Z</dcterms:modified>
</cp:coreProperties>
</file>